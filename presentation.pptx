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Prodeje (počet)</c:v>
                </c:pt>
              </c:strCache>
            </c:strRef>
          </c:tx>
          <c:spPr>
            <a:solidFill>
              <a:srgbClr val="4648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Říjen</c:v>
                  </c:pt>
                  <c:pt idx="1">
                    <c:v>Listopad</c:v>
                  </c:pt>
                  <c:pt idx="2">
                    <c:v>Prosinec</c:v>
                  </c:pt>
                  <c:pt idx="3">
                    <c:v>Leden</c:v>
                  </c:pt>
                  <c:pt idx="4">
                    <c:v>Únor</c:v>
                  </c:pt>
                  <c:pt idx="5">
                    <c:v>Březen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12</c:v>
                </c:pt>
                <c:pt idx="2">
                  <c:v>7</c:v>
                </c:pt>
                <c:pt idx="3">
                  <c:v>15</c:v>
                </c:pt>
                <c:pt idx="4">
                  <c:v>11</c:v>
                </c:pt>
                <c:pt idx="5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Nové leady</c:v>
                </c:pt>
              </c:strCache>
            </c:strRef>
          </c:tx>
          <c:spPr>
            <a:solidFill>
              <a:srgbClr val="E1E0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Říjen</c:v>
                  </c:pt>
                  <c:pt idx="1">
                    <c:v>Listopad</c:v>
                  </c:pt>
                  <c:pt idx="2">
                    <c:v>Prosinec</c:v>
                  </c:pt>
                  <c:pt idx="3">
                    <c:v>Leden</c:v>
                  </c:pt>
                  <c:pt idx="4">
                    <c:v>Únor</c:v>
                  </c:pt>
                  <c:pt idx="5">
                    <c:v>Březen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</c:v>
                </c:pt>
                <c:pt idx="1">
                  <c:v>31</c:v>
                </c:pt>
                <c:pt idx="2">
                  <c:v>19</c:v>
                </c:pt>
                <c:pt idx="3">
                  <c:v>38</c:v>
                </c:pt>
                <c:pt idx="4">
                  <c:v>27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DFF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2DFF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8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AF8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4389120" cy="4389120"/>
          </a:xfrm>
          <a:prstGeom prst="ellipse">
            <a:avLst/>
          </a:prstGeom>
          <a:solidFill>
            <a:srgbClr val="4648D4">
              <a:alpha val="25000"/>
            </a:srgbClr>
          </a:solidFill>
          <a:ln w="12700">
            <a:solidFill>
              <a:srgbClr val="4648D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5394960"/>
            <a:ext cx="777240" cy="777240"/>
          </a:xfrm>
          <a:prstGeom prst="ellipse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1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PEPA · BACK OFFICE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Výkonnostní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Přehled 2026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41148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Realitní back office — klíčové metriky, pipeline a doporučení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4846320"/>
            <a:ext cx="2011680" cy="64008"/>
          </a:xfrm>
          <a:prstGeom prst="rect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Duben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prezentace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58368" cy="658368"/>
          </a:xfrm>
          <a:prstGeom prst="ellipse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1673352"/>
            <a:ext cx="9144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Klíčové ukazatele výkonnosti (KPI)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10515600" cy="0"/>
          </a:xfrm>
          <a:prstGeom prst="line">
            <a:avLst/>
          </a:prstGeom>
          <a:noFill/>
          <a:ln w="7620">
            <a:solidFill>
              <a:srgbClr val="D5D2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50592"/>
            <a:ext cx="658368" cy="658368"/>
          </a:xfrm>
          <a:prstGeom prst="ellipse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450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8448" y="2569464"/>
            <a:ext cx="9144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konverze leadů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163824"/>
            <a:ext cx="10515600" cy="0"/>
          </a:xfrm>
          <a:prstGeom prst="line">
            <a:avLst/>
          </a:prstGeom>
          <a:noFill/>
          <a:ln w="7620">
            <a:solidFill>
              <a:srgbClr val="D5D2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46704"/>
            <a:ext cx="658368" cy="658368"/>
          </a:xfrm>
          <a:prstGeom prst="ellipse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3467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3465576"/>
            <a:ext cx="9144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Vývoj prodejů — grafický přehled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059936"/>
            <a:ext cx="10515600" cy="0"/>
          </a:xfrm>
          <a:prstGeom prst="line">
            <a:avLst/>
          </a:prstGeom>
          <a:noFill/>
          <a:ln w="7620">
            <a:solidFill>
              <a:srgbClr val="D5D2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242816"/>
            <a:ext cx="658368" cy="658368"/>
          </a:xfrm>
          <a:prstGeom prst="ellipse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2428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98448" y="4361688"/>
            <a:ext cx="9144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Aktivity a follow-up tým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956048"/>
            <a:ext cx="10515600" cy="0"/>
          </a:xfrm>
          <a:prstGeom prst="line">
            <a:avLst/>
          </a:prstGeom>
          <a:noFill/>
          <a:ln w="7620">
            <a:solidFill>
              <a:srgbClr val="D5D2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5138928"/>
            <a:ext cx="658368" cy="658368"/>
          </a:xfrm>
          <a:prstGeom prst="ellipse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51389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5257800"/>
            <a:ext cx="9144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Doporučení a příští kroky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Klíčové metriky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38912" y="1508760"/>
            <a:ext cx="2670048" cy="4434840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6350">
            <a:solidFill>
              <a:srgbClr val="E2DFF5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508760"/>
            <a:ext cx="2670048" cy="182880"/>
          </a:xfrm>
          <a:prstGeom prst="rect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45059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464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142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Nové leady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55264" y="1508760"/>
            <a:ext cx="2670048" cy="4434840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6350">
            <a:solidFill>
              <a:srgbClr val="E2DFF5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55264" y="1508760"/>
            <a:ext cx="267004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2011680"/>
            <a:ext cx="245059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3364992" y="4114800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Prodeje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64992" y="480060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uzavřených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71616" y="1508760"/>
            <a:ext cx="2670048" cy="4434840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6350">
            <a:solidFill>
              <a:srgbClr val="E2DFF5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508760"/>
            <a:ext cx="2670048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2011680"/>
            <a:ext cx="245059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6800" dirty="0"/>
          </a:p>
        </p:txBody>
      </p:sp>
      <p:sp>
        <p:nvSpPr>
          <p:cNvPr id="17" name="Text 15"/>
          <p:cNvSpPr/>
          <p:nvPr/>
        </p:nvSpPr>
        <p:spPr>
          <a:xfrm>
            <a:off x="6181344" y="4114800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Konverze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81344" y="480060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/ uzavřené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87968" y="1508760"/>
            <a:ext cx="2670048" cy="4434840"/>
          </a:xfrm>
          <a:prstGeom prst="roundRect">
            <a:avLst>
              <a:gd name="adj" fmla="val 6164"/>
            </a:avLst>
          </a:prstGeom>
          <a:solidFill>
            <a:srgbClr val="FFFFFF"/>
          </a:solidFill>
          <a:ln w="6350">
            <a:solidFill>
              <a:srgbClr val="E2DFF5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87968" y="1508760"/>
            <a:ext cx="2670048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97696" y="2011680"/>
            <a:ext cx="245059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84M</a:t>
            </a:r>
            <a:endParaRPr lang="en-US" sz="6800" dirty="0"/>
          </a:p>
        </p:txBody>
      </p:sp>
      <p:sp>
        <p:nvSpPr>
          <p:cNvPr id="22" name="Text 20"/>
          <p:cNvSpPr/>
          <p:nvPr/>
        </p:nvSpPr>
        <p:spPr>
          <a:xfrm>
            <a:off x="8997696" y="4114800"/>
            <a:ext cx="2450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Obrat (Kč)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97696" y="480060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prodaných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Prodeje — měsíční přehled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111556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Doporučení pro Q2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Strategické priority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29968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Navýšit počet prohlídek u aktivních leadů o 20 %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Zavést týdenní pipeline review každé pondělí ráno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Posílit Bezrealitky kanál — konverze vyšší než Sreality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Automatizovat follow-up reminder 48 h po prohlídce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•"/>
            </a:pPr>
            <a:r>
              <a:rPr lang="en-US" sz="1400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Cílovat na Praha 2 a Praha 7 — nejsilnější tržní aktivita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417320"/>
            <a:ext cx="521208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DFF5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0" y="1417320"/>
            <a:ext cx="256032" cy="1417320"/>
          </a:xfrm>
          <a:prstGeom prst="rect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5819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26680" y="176479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Cíl: 60 prodejů Q2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3063240"/>
            <a:ext cx="521208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DFF5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3063240"/>
            <a:ext cx="256032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322783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726680" y="34107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Obrat: 120 mil. Kč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92240" y="4709160"/>
            <a:ext cx="521208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2DFF5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4709160"/>
            <a:ext cx="256032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48737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726680" y="50566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cíl: 4,8 / 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Výhody platformy Pepa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38912" y="1417320"/>
            <a:ext cx="539496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E2DFF5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417320"/>
            <a:ext cx="5394960" cy="201168"/>
          </a:xfrm>
          <a:prstGeom prst="rect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83080"/>
            <a:ext cx="685800" cy="685800"/>
          </a:xfrm>
          <a:prstGeom prst="ellipse">
            <a:avLst/>
          </a:prstGeom>
          <a:solidFill>
            <a:srgbClr val="4648D4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647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44752" y="181965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asistent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2441448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Pepa odpovídá na otázky o klientech, leadech a aktivitách v přirozené češtině.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539496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E2DFF5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417320"/>
            <a:ext cx="53949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783080"/>
            <a:ext cx="685800" cy="685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7647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06640" y="181965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přehledy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441448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Automatické PDF reporty s grafy a AI komentářem — týdně i měsíčně.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" y="3913632"/>
            <a:ext cx="539496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E2DFF5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" y="3913632"/>
            <a:ext cx="539496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4279392"/>
            <a:ext cx="685800" cy="6858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26110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44752" y="43159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portálů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" y="49377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Sreality a Bezrealitky se scrapují denně; nové nabídky chodí na Telegram.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3913632"/>
            <a:ext cx="5394960" cy="2286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E2DFF5"/>
            </a:solidFill>
            <a:prstDash val="solid"/>
          </a:ln>
          <a:effectLst>
            <a:outerShdw sx="100000" sy="100000" kx="0" ky="0" algn="bl" rotWithShape="0" blurRad="152400" dist="50800" dir="18900000">
              <a:srgbClr val="1b1b2033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3913632"/>
            <a:ext cx="539496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4279392"/>
            <a:ext cx="685800" cy="685800"/>
          </a:xfrm>
          <a:prstGeom prst="ellipse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26110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06640" y="43159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Správa pipeline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0" y="49377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Přehledná pipeline s historií aktivit, poznámkami a propojenými nemovitostmi.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B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029200" cy="5029200"/>
          </a:xfrm>
          <a:prstGeom prst="ellipse">
            <a:avLst/>
          </a:prstGeom>
          <a:solidFill>
            <a:srgbClr val="4648D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4648D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Děkujeme!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1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Jste připraveni posunout váš back office na další úroveň?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937760" y="4069080"/>
            <a:ext cx="2286000" cy="54864"/>
          </a:xfrm>
          <a:prstGeom prst="rect">
            <a:avLst/>
          </a:prstGeom>
          <a:solidFill>
            <a:srgbClr val="4648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pepa.app</a:t>
            </a:r>
            <a:pPr algn="ctr" indent="0" marL="0">
              <a:buNone/>
            </a:pPr>
            <a:r>
              <a:rPr lang="en-US" sz="1500" dirty="0">
                <a:solidFill>
                  <a:srgbClr val="A0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500" dirty="0">
                <a:solidFill>
                  <a:srgbClr val="A0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support@pepa.app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2026-04-14T13:37:23Z</dcterms:created>
  <dcterms:modified xsi:type="dcterms:W3CDTF">2026-04-14T13:37:23Z</dcterms:modified>
</cp:coreProperties>
</file>